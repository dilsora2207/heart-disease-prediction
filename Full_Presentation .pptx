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>
        <p:scale>
          <a:sx n="101" d="100"/>
          <a:sy n="101" d="100"/>
        </p:scale>
        <p:origin x="341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B2D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Gradient Boosting</c:v>
                </c:pt>
                <c:pt idx="1">
                  <c:v>Random Forest</c:v>
                </c:pt>
                <c:pt idx="2">
                  <c:v>Logistic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76.540000000000006</c:v>
                </c:pt>
                <c:pt idx="1">
                  <c:v>75.930000000000007</c:v>
                </c:pt>
                <c:pt idx="2">
                  <c:v>75.849999999999994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E-4439-B4CB-82F41DB854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Gradient Boosting</c:v>
                </c:pt>
                <c:pt idx="1">
                  <c:v>Random Forest</c:v>
                </c:pt>
                <c:pt idx="2">
                  <c:v>Logistic Regression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82.52</c:v>
                </c:pt>
                <c:pt idx="1">
                  <c:v>82.33</c:v>
                </c:pt>
                <c:pt idx="2">
                  <c:v>82.06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E-4439-B4CB-82F41DB854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7B3F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Gradient Boosting</c:v>
                </c:pt>
                <c:pt idx="1">
                  <c:v>Random Forest</c:v>
                </c:pt>
                <c:pt idx="2">
                  <c:v>Logistic Regression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70.55</c:v>
                </c:pt>
                <c:pt idx="1">
                  <c:v>71.83</c:v>
                </c:pt>
                <c:pt idx="2">
                  <c:v>71.260000000000005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AE-4439-B4CB-82F41DB854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73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D1A15"/>
          </a:solidFill>
          <a:ln w="12700">
            <a:solidFill>
              <a:srgbClr val="3D1A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CardioPredict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270,000 patients · Kaggle   </a:t>
            </a:r>
            <a:r>
              <a:rPr lang="en-US" sz="1200" b="1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2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Task Description &amp; Relevance — WHO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— #1 cause of death worldwide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Normal (0) vs Disease (1)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measurable clinical features from real patients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GBD Study, JACC September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33472"/>
            <a:ext cx="2103120" cy="9875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679192"/>
            <a:ext cx="210312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176626"/>
            <a:ext cx="210312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2023 (WHO)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633472"/>
            <a:ext cx="2103120" cy="987552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87168" y="2679192"/>
            <a:ext cx="210312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87168" y="3176626"/>
            <a:ext cx="210312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deaths worldwide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0016" y="2633472"/>
            <a:ext cx="2103120" cy="9875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2679192"/>
            <a:ext cx="210312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0016" y="3176626"/>
            <a:ext cx="210312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deaths/day in Europe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12864" y="2633472"/>
            <a:ext cx="2103120" cy="987552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12864" y="2679192"/>
            <a:ext cx="210312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35.6M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12864" y="3176626"/>
            <a:ext cx="210312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2050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37307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GBD Study JACC September 2025 / WHO Europe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Europe &amp; Central Asia — highest mortality region by 2050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Business Case — Private Clinic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patients/day
</a:t>
            </a: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cardiologist cannot examine
everyone in detail.
</a:t>
            </a:r>
            <a:r>
              <a:rPr lang="en-US" sz="11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prioritization:
</a:t>
            </a: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High-risk patients wait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time wasted on low-risk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Delayed diagnosis = worse outcomes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CardioPredict 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206240" cy="59436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064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fills 12-field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206240" cy="59436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7647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18470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predicts risk 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95728"/>
            <a:ext cx="4206240" cy="59436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423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25054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sees who needs help 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90672"/>
            <a:ext cx="4206240" cy="932688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14553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31455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consult, free doctor 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4198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0" y="34198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tests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69417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36941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cardiologist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1330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CardioPredict does not replace the doctor — it helps prioritize (medical triage)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Dataset — 13 Clinical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160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Range / Values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Clinical Meaning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29–77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0=Female, 1=Male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gender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1,2,3,4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1=Typical,2=Atypical,3=Non-typical,4=Asymptomatic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94–200 mmHg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blood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126–564 mg/dl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FBS over 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0=No, 1=Yes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Fasting blood sugar &gt; 120 mg/dl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71–202 bpm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heart rate during exercise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angina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0=No, 1=Yes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 during exercise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depression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segment depression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Vessels fluro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0,1,2,3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vessels in fluoroscopy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Thallium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target — removed after creating label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0=Normal, 1=Disease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Derived: Thallium != 3 → Disease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 — Target Distribution &amp; Age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Variable Distribution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078992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 Normal </a:t>
            </a: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(159,498 records)
</a:t>
            </a: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40.9% Disease </a:t>
            </a: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(110,502 records)
</a:t>
            </a:r>
            <a:r>
              <a:rPr lang="en-US" sz="1000" b="1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1.44:1 — </a:t>
            </a: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imbalance, SMOTE not needed.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7498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Distribution by Class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78992"/>
            <a:ext cx="3931920" cy="2624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37673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patients concentrate in 50–65 age range. Mean 54.2 years. Slight left skew (-0.171). Risk grows from 18% at age 29–40 to 52% at 71–77.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 — Age vs Max HR &amp; ST Depression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vs Max Heart Rate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11480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858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negative trend: older patients achieve lower max HR. r = -0.301 with target. Consistent across both classes.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 Depression vs Disease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11480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858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patients show significantly higher ST depression (r = 0.314). Healthy median near 0 vs elevated disease values — clear physiological signal.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 — Chest Pain Type &amp; Vessels Fluoroscopy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Chest Pain Type vs Disease Rate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1148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703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Asymptomatic (Type 4) = 57.8% disease rate — highest of all types! Counter-intuitive but clinically documented.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of Vessels vs Disease Rate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114800" cy="2560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703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dose-response: 0 vessels → 30% | 1 → 62.2% | 2 → 74.3% | 3 → 74%. r = 0.332 — 2nd strongest predictor.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 — Correlation Matrix &amp; Feature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4754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525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shows Thallium ↔ target r=0.998 (data leakage — removed). Top predictors: Exercise angina, Vessels fluro, Chest pain, ST depression, Max HR.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749808"/>
            <a:ext cx="3749040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640" y="4535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leads at r=0.353. All top 5 features are clinically meaningful cardiac indicators.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 — Code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EDA Code (eda.py)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4572000" cy="3721608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dataset and inspect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pd.read_csv("data.csv")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  # (270000, 14)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 # → 0 missing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distribution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df["target"].value_counts(normalize=True)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59.1%  |  1: 40.9%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Pearson correlation with target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df.corr()["target"].abs()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corr.sort_values(ascending=False)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Exercise angina: 0.353 (highest)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Thallium:        0.998 (leakage!)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 histogram by class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df.groupby("target")["Age"].hist(alpha=0.6)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Chest pain disease rate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df.groupby("Chest pain type")["target"].mean()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4 (Asymptomatic): 57.8%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749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78992"/>
            <a:ext cx="38404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1064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270,000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1344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· 0 missing values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38404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764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r=0.353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002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— top predictor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0" y="2395728"/>
            <a:ext cx="38404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423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57.8%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2660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rate for asymptomatic pain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0" y="3054096"/>
            <a:ext cx="38404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3081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r=0.998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319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Thallium ↔ target → data leakage!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0" y="3712464"/>
            <a:ext cx="38404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37398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1.44:1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— SMOTE not needed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Preprocessing —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961120" cy="2240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Step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Result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Target creation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= (Thallium !=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0=Normal, 1=Disease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Drop Thallium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to prevent data leakage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features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Missing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df.isnull().sum() — all 14 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missing values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Train/Test 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80/20 stratified, random_state=42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216k train / 54k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Feature 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fit on X_train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mean, unit 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Save artifacts (v2)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scaler.pkl + columns.pkl saved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inference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4015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vs v2 — Critical Difference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3730752"/>
            <a:ext cx="4206240" cy="1115568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MISSING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4114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scaler.pkl not saved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columns.pkl not saved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All predictions = 85% wrong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3730752"/>
            <a:ext cx="4206240" cy="1115568"/>
          </a:xfrm>
          <a:prstGeom prst="rect">
            <a:avLst/>
          </a:prstGeom>
          <a:solidFill>
            <a:srgbClr val="DCFCE7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8"/>
          <p:cNvSpPr/>
          <p:nvPr/>
        </p:nvSpPr>
        <p:spPr>
          <a:xfrm>
            <a:off x="470916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FIXED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4114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scaler.pkl saved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columns.pkl saved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Correct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Preprocessing — Code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5029200" cy="3721608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target — remove data leakage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df["target"] = (df["Thallium"] != 3).astype(int)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df.drop(columns=["Thallium"])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missing values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 # → all 0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Stratified train/test split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random_state=42, stratify=y)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Train: 216,000  |  Test: 54,000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— fit on train only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 = scaler.fit_transform(X_train)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  = scaler.transform(X_test)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v2 FIX: save scaler + column order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open("processed/scaler.pkl","wb") as f: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pickle.dump(scaler, f)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open("processed/columns.pkl","wb") as f: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pickle.dump(list(X.columns), f)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0" y="7498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saving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078992"/>
            <a:ext cx="3383280" cy="1554480"/>
          </a:xfrm>
          <a:prstGeom prst="rect">
            <a:avLst/>
          </a:prstGeom>
          <a:solidFill>
            <a:srgbClr val="FEE2E2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115568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scaler.pkl: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scaled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Age → -2.1)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web app sends raw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Age = 35)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sees anomaly → 85% for everyone!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2743200"/>
            <a:ext cx="338328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32120" y="2779776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scaler.pkl saved: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loads same scaler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identical transform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expected values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Correct predictions ✓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Model Selection — Why These 3?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834640" cy="438912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834640" cy="274320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errors step-by-step.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tabular clinical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feature interactions.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749808"/>
            <a:ext cx="2834640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7498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834640" cy="274320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1298448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ensemble.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overfitting.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baseline comparison.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749808"/>
            <a:ext cx="2834640" cy="43891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7498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834640" cy="2743200"/>
          </a:xfrm>
          <a:prstGeom prst="rect">
            <a:avLst/>
          </a:prstGeom>
          <a:solidFill>
            <a:srgbClr val="F0EBE5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298448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training.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Lower-bound reference model.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041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optimized with RandomizedSearchCV · 15 iterations · StratifiedKFold · 30k stratified sample for speed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343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check: if train_score − cv_score &gt; 0.05 → flag as overfit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Model Training — Code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RandomizedSearchCV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429768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30k for fast search (not all 216k)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X_sample, y_sample = resample(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n_samples=30000, stratify=y_train)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search space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param_dist =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"n_estimators":  [200, 300, 500],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"learning_rate": [0.01, 0.05, 0.1],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"max_depth":     [2, 3, 4],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"subsample":     [0.6, 0.8],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1078992"/>
            <a:ext cx="429768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RandomizedSearchCV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= RandomizedSearchCV(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GradientBoostingClassifier(),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param_dist, n_iter=15,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scoring="recall", cv=5,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return_train_score=True)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search.fit(X_sample, y_sample)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Overfitting check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= train_score - cv_score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diff &lt;= 0.05: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print("Stable ✓")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train_score &gt;= 0.90: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print("Overfitting!")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Retrain on FULL data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GradientBoostingClassifier(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**search.best_params_)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Model Comparison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9052560" cy="1280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Accuracy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Precision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Recall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F1-Score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ROC-AUC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A6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74320" y="2423160"/>
          <a:ext cx="85953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Final Model — Gradient Boosting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4 out of 5 metrics across both initial and optimized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2011680" cy="137160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76.54%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3200400"/>
            <a:ext cx="2011680" cy="137160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72.44%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2011680" cy="137160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70.55%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3200400"/>
            <a:ext cx="2011680" cy="137160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82.52%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Random Forest has best Recall (75.13%) — catches more disease cases. But Gradient Boosting wins overall balance across all 5 metrics.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Web Application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&amp; File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backend REST API framework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— ASGI server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— HTML templating engine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model &amp; scaler loading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 — patient history (browser)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944368"/>
            <a:ext cx="3931920" cy="1856232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web_site/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       ← FastAPI backend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index.html  ← Form +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static/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style.css   ← All styling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42976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10642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6048" y="11704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form (12 fields)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42976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7647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1828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DataFrame (columns.pkl)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95728"/>
            <a:ext cx="42976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24231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6048" y="2487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input (scaler.pkl)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054096"/>
            <a:ext cx="42976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30815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1455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probability (model.pkl)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712464"/>
            <a:ext cx="42976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373989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56048" y="38039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 → render result card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Web Application —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50292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6301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form — 12 fields in 6 grouped sections. DM Serif Display font, warm clinical palette, sticky header with heartbeat animation.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749808"/>
            <a:ext cx="3383280" cy="1856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26334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— 3.5% · Green border + bar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926080"/>
            <a:ext cx="3383280" cy="1856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0" y="4818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85% · Full red bar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Web Application — Code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main.py — FastAPI 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754880" cy="3749040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at startup — once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open(MODEL_PATH,   "rb") as f: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pickle.load(f)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open(SCALER_PATH,  "rb") as f: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scaler = pickle.load(f)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open(COLUMNS_PATH, "rb") as f: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feature_columns = pickle.load(f)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Prediction route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predict(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 float = Form(...),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sex:  float = Form(...),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# 12 fields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input_df = pd.DataFrame([{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feature_columns[0]: age, ...}])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scaled = scaler.transform(input_df)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model.predict_proba(scaled)[0][1]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prob &lt; 0.35:   risk = "Low Risk"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prob &lt; 0.60: risk = "Moderate Risk"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risk = "High Risk"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208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Command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051560"/>
            <a:ext cx="365760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57800" y="1088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563624"/>
            <a:ext cx="365760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7800" y="1600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loaded successfully
Scaler loaded successfully
</a:t>
            </a:r>
            <a:r>
              <a:rPr lang="en-US" sz="850" dirty="0">
                <a:solidFill>
                  <a:srgbClr val="F0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columns: ['Age', ...]
</a:t>
            </a: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running on http://127.0.0.1:8000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History (JS)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788920"/>
            <a:ext cx="3657600" cy="2011680"/>
          </a:xfrm>
          <a:prstGeom prst="rect">
            <a:avLst/>
          </a:prstGeom>
          <a:solidFill>
            <a:srgbClr val="F8F8F8"/>
          </a:solidFill>
          <a:ln>
            <a:solidFill>
              <a:srgbClr val="E5E0D8"/>
            </a:solidFill>
          </a:ln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getHistory()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JSON.parse(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sessionStorage.getItem(KEY));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history.push({name,age,prob,risk});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sessionStorage.setItem(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KEY, JSON.stringify(history));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Challenges &amp; Solutions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2860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51760" y="749808"/>
            <a:ext cx="31089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0" y="749808"/>
            <a:ext cx="30175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7955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Form(...)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7955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values = 0 in FastAPI route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97880" y="7955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= Form(...) to every parameter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27048"/>
            <a:ext cx="22860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1527048"/>
            <a:ext cx="31089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1527048"/>
            <a:ext cx="30175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5727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 not saved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57276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scaler.pkl → impossible to scale input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157276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pickle.dump(scaler) to preprocessing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22860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51760" y="2304288"/>
            <a:ext cx="31089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52160" y="2304288"/>
            <a:ext cx="30175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3500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 for all patients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235000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unscaled input → wrong predictions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apply scaler.transform() in main.py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81528"/>
            <a:ext cx="22860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51760" y="3081528"/>
            <a:ext cx="31089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3081528"/>
            <a:ext cx="30175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1272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search (&gt;30 min)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127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 × 50 combos × 5 folds = too slow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97880" y="31272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 30k sample, retrain on full data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704088"/>
            <a:ext cx="22860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51760" y="704088"/>
            <a:ext cx="31089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0" y="704088"/>
            <a:ext cx="3017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7132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97480" y="7132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97880" y="7132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Technologies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73152" cy="8686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92224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73152" cy="8686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836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73152" cy="8686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scaler,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767328"/>
            <a:ext cx="73152" cy="868680"/>
          </a:xfrm>
          <a:prstGeom prst="rect">
            <a:avLst/>
          </a:prstGeom>
          <a:solidFill>
            <a:srgbClr val="6B2D2D"/>
          </a:solidFill>
          <a:ln w="12700">
            <a:solidFill>
              <a:srgbClr val="6B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858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242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114800" cy="868680"/>
          </a:xfrm>
          <a:prstGeom prst="rect">
            <a:avLst/>
          </a:prstGeom>
          <a:solidFill>
            <a:srgbClr val="FDF0E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92224"/>
            <a:ext cx="4114800" cy="868680"/>
          </a:xfrm>
          <a:prstGeom prst="rect">
            <a:avLst/>
          </a:prstGeom>
          <a:solidFill>
            <a:srgbClr val="FDF0E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792224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18836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Jinja2 + HTML/CSS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779776"/>
            <a:ext cx="4114800" cy="868680"/>
          </a:xfrm>
          <a:prstGeom prst="rect">
            <a:avLst/>
          </a:prstGeom>
          <a:solidFill>
            <a:srgbClr val="FDF0E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779776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PyCharm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255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767328"/>
            <a:ext cx="4114800" cy="868680"/>
          </a:xfrm>
          <a:prstGeom prst="rect">
            <a:avLst/>
          </a:prstGeom>
          <a:solidFill>
            <a:srgbClr val="FDF0E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63440" y="3767328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858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(AI)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4242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Summary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tested — all 3 patients predicted correctly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907792"/>
            <a:ext cx="2743200" cy="178308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953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73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32 · Female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vitals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21945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2153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907792"/>
            <a:ext cx="2743200" cy="178308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953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273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50 · Male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flags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40.6%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566160" y="4206240"/>
            <a:ext cx="2194560" cy="2743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42153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907792"/>
            <a:ext cx="2743200" cy="1783080"/>
          </a:xfrm>
          <a:prstGeom prst="rect">
            <a:avLst/>
          </a:prstGeom>
          <a:solidFill>
            <a:srgbClr val="3D1A15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2953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273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63 · Male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profile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87.4%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92240" y="4206240"/>
            <a:ext cx="21945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42153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Accuracy 76.54% · ROC-AUC 82.52% · Deployed via FastAPI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2489</Words>
  <Application>Microsoft Office PowerPoint</Application>
  <PresentationFormat>On-screen Show (16:9)</PresentationFormat>
  <Paragraphs>463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— Full Report</dc:title>
  <dc:subject>PptxGenJS Presentation</dc:subject>
  <dc:creator>PptxGenJS</dc:creator>
  <cp:lastModifiedBy>dilsora ibodullayeva</cp:lastModifiedBy>
  <cp:revision>5</cp:revision>
  <dcterms:created xsi:type="dcterms:W3CDTF">2026-03-21T11:06:30Z</dcterms:created>
  <dcterms:modified xsi:type="dcterms:W3CDTF">2026-03-22T09:03:29Z</dcterms:modified>
</cp:coreProperties>
</file>